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This is Session 2 where we build the unit circle using special triangles.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objectives aloud. Students should be able to accomplish all of these by end of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 this question to students. We'll answer it by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Display ACT problem. Give students 3 minutes to work individually. Monitor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Silent work time. Circulate and observe student strategies. Note common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solution. Discuss problem-solving strategies. Address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unit circle visual. Ask students for coordinates at 90°. Build anticipation for building complete unit circle.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goal clearly. Students will know exactly what they're working toward.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special triangle ratios. Draw triangles on board. Have students verify with Pythagorean theorem. Spend 5 minutes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connection between special triangles and unit circle. This is the key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30-60-90 triangle in unit circle. Show how legs give coordinates. x = √3/2 (adjacent), y = 1/2 (opposite).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45-45-90 triangle. Both legs equal, so x = y = √2/2. Emphasize symmetry.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this is the flip of π/6. Same triangle, different angle perspective. x = 1/2, y = √3/2.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straightforward - at 90°, we're at the top of the circle on the y-axis.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students see patterns. These make memorization easier. Discuss each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Display complete Quadrant I summary. Have students copy this into their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Partner work. Circulate and assist. Look for common errors. 6 minutes for this practice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solution. Have student volunteer explain. Address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Partner work continues. Monitor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solution. Emphasize equal coordinates for 45°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reference angles. Show examples in each quadrant. This is key to extending to all quadrants.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Students Take Calculus - sin, cos, tan positive in each quadrant. Show sign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through this example step-by-step. Emphasize the process: find quadrant, find reference angle, apply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worked example. Reinforce the systematic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Partner practice. Circulate. This is in Quadrant II, reference angle π/6.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solution. Have student explain their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all six trig functions come from coordinates. This is powerful!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through this example carefully. Show how to find each function from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combines both skills. Monitor closely. Quadrant III, reference π/6.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complete solution. Address any calculation errors 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daily assignment structure. 30 minutes for independent work. Circulate and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good habits. Remind students these skills build on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all key concepts. Check for understanding before 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Oral review. Call on volunteers. Gauge class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next session. Build anticipation.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project. Distribute guidelines. This helps with memorization and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exit tickets. Students work individually. Collect before they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1: Basic Quadrant I recall. Answer: (√2/2, √2/2)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2: Reference angle application. Answer: (-√3/2, 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3: Trig function from angle. Answer: √3/2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4: All six functions. Coordinates: (-√2/2, √2/2)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5: Conceptual understanding. Both x and y negative in QIII.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Silent work time. Monitor students. Note who struggles for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exit tickets. Remind about homework. Dismiss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Positive closing. Acknowledge student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AP Precalculus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Week 1: 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Unit Circle - Quadrant I &amp; Special Angles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January 9, 2026 (Friday)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Standards: PC.TR.3, PC.TR.4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Teacher: Lyles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Learning Objectives -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Use special triangles (30-60-90 and 45-45-90) to find unit circle coordinates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Find exact coordinates for special angles (π/6, π/4, π/3, π/2) in Quadrant I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Use reference angles and symmetry to extend to all four quadrants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Understand sign patterns across quadrants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Calculate all six trigonometric functions from unit circle coordinates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Essential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How can we use special right triangles to find exact coordinates on the unit circle?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Bell Ringer: ACT 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ACT Math Problem #13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[Insert ACT Math problem here - multi-step problem]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Work on this individually for 3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Work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Show your work in your notebook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0AD47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ACT Warm-Up: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[Display complete solution with explanation]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Strategy: Break multi-step problems into manageable parts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Let's Build the Unit Circle!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Display: Circle with radius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Question: "What are the coordinates at 90°?"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0AD47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Answer: (0,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Our Goal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Build a complete unit circle with exact coordinates for all special angles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Model (I Do): Special Right Triangles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30-60-90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Side ratios: 1 : √3 :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1148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[Diagram showing 30-60-90 triangle]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45-45-90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41148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Side ratios: 1 : 1 : √2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41148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[Diagram showing 45-45-90 triangle]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Why Special Triangles?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These triangles fit perfectly inside the unit circle</a:t>
            </a:r>
          </a:p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They help us find EXACT coordinates (not decimals)</a:t>
            </a:r>
          </a:p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The hypotenuse of the triangle equals the radius (1)</a:t>
            </a:r>
          </a:p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00FFFF"/>
                </a:solidFill>
              </a:rPr>
              <a:t>The legs give us the x and y coordinates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Model: Finding Coordinates for π/6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Angle: π/6 (or 30°)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[Diagram: Unit circle with 30-60-90 triangle in Quadrant 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Coordinates: (√3/2, 1/2)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Model: Finding Coordinates for π/4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Angle: π/4 (or 45°)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[Diagram: Unit circle with 45-45-90 triangle in Quadrant 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Coordinates: (√2/2, √2/2)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Model: Finding Coordinates for π/3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Angle: π/3 (or 60°)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[Diagram: Unit circle with 30-60-90 triangle in Quadrant 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Coordinates: (1/2, √3/2)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Model: Finding Coordinates for π/2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Angle: π/2 (or 90°)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00FFFF"/>
                </a:solidFill>
              </a:rPr>
              <a:t>[Diagram: Unit circle at 90° on y-axis]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Coordinates: (0, 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Patterns in Quadrant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Denominators are always 2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Numerators use 1, √2, or √3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Both coordinates are positive in Quadrant I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π/6 and π/3 coordinates are 'flipped'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00FFFF"/>
                </a:solidFill>
              </a:rPr>
              <a:t>π/4 has equal x and y coordinates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Quadrant 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3200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[Table showing:]</a:t>
            </a:r>
          </a:p>
          <a:p>
            <a:r>
              <a:rPr>
                <a:solidFill>
                  <a:srgbClr val="E0E0E0"/>
                </a:solidFill>
              </a:rPr>
              <a:t>Angle (radians) | Angle (degrees) | Coordinates</a:t>
            </a:r>
          </a:p>
          <a:p>
            <a:r>
              <a:rPr>
                <a:solidFill>
                  <a:srgbClr val="E0E0E0"/>
                </a:solidFill>
              </a:rPr>
              <a:t>π/6 | 30° | (√3/2, 1/2)</a:t>
            </a:r>
          </a:p>
          <a:p>
            <a:r>
              <a:rPr>
                <a:solidFill>
                  <a:srgbClr val="E0E0E0"/>
                </a:solidFill>
              </a:rPr>
              <a:t>π/4 | 45° | (√2/2, √2/2)</a:t>
            </a:r>
          </a:p>
          <a:p>
            <a:r>
              <a:rPr>
                <a:solidFill>
                  <a:srgbClr val="E0E0E0"/>
                </a:solidFill>
              </a:rPr>
              <a:t>π/3 | 60° | (1/2, √3/2)</a:t>
            </a:r>
          </a:p>
          <a:p>
            <a:r>
              <a:rPr>
                <a:solidFill>
                  <a:srgbClr val="E0E0E0"/>
                </a:solidFill>
              </a:rPr>
              <a:t>π/2 | 90° | (0, 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Guided Practice (We 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Problem 1: Find the coordinates for π/6 on the unit circle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Work with your partner to draw the triangle and find the coordinates.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Time: 2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0AD47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Solution: π/6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Use 30-60-90 triangle</a:t>
            </a:r>
          </a:p>
          <a:p>
            <a:r>
              <a:rPr>
                <a:solidFill>
                  <a:srgbClr val="E0E0E0"/>
                </a:solidFill>
              </a:rPr>
              <a:t>Side ratios: 1 : √3 : 2</a:t>
            </a:r>
          </a:p>
          <a:p>
            <a:r>
              <a:rPr>
                <a:solidFill>
                  <a:srgbClr val="E0E0E0"/>
                </a:solidFill>
              </a:rPr>
              <a:t>On unit circle: hypotenuse = 1</a:t>
            </a:r>
          </a:p>
          <a:p>
            <a:r>
              <a:rPr>
                <a:solidFill>
                  <a:srgbClr val="E0E0E0"/>
                </a:solidFill>
              </a:rPr>
              <a:t>So legs are: 1/2 and √3/2</a:t>
            </a:r>
          </a:p>
          <a:p/>
          <a:p>
            <a:r>
              <a:rPr>
                <a:solidFill>
                  <a:srgbClr val="E0E0E0"/>
                </a:solidFill>
              </a:rPr>
              <a:t>Coordinates: (√3/2, 1/2)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Guided Practice (We 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Problem 2: Find the coordinates for π/4 on the unit circle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Which special triangle do we use? Draw it and find coordinates.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Time: 2 minutes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0AD47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Solution: π/4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Use 45-45-90 triangle</a:t>
            </a:r>
          </a:p>
          <a:p>
            <a:r>
              <a:rPr>
                <a:solidFill>
                  <a:srgbClr val="E0E0E0"/>
                </a:solidFill>
              </a:rPr>
              <a:t>Side ratios: 1 : 1 : √2</a:t>
            </a:r>
          </a:p>
          <a:p>
            <a:r>
              <a:rPr>
                <a:solidFill>
                  <a:srgbClr val="E0E0E0"/>
                </a:solidFill>
              </a:rPr>
              <a:t>On unit circle: hypotenuse = 1</a:t>
            </a:r>
          </a:p>
          <a:p>
            <a:r>
              <a:rPr>
                <a:solidFill>
                  <a:srgbClr val="E0E0E0"/>
                </a:solidFill>
              </a:rPr>
              <a:t>So both legs are: √2/2</a:t>
            </a:r>
          </a:p>
          <a:p/>
          <a:p>
            <a:r>
              <a:rPr>
                <a:solidFill>
                  <a:srgbClr val="E0E0E0"/>
                </a:solidFill>
              </a:rPr>
              <a:t>Coordinates: (√2/2, √2/2)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Model: Reference Angles &amp; All Quadrants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00FFFF"/>
                </a:solidFill>
              </a:rPr>
              <a:t>Reference Angle: The acute angle to the nearest x-axis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[Diagram showing reference angles in all four quadrants]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Sign Patterns by Quadrant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[Diagram: Four-quadrant chart with sign patterns]</a:t>
            </a:r>
          </a:p>
          <a:p/>
          <a:p>
            <a:r>
              <a:rPr>
                <a:solidFill>
                  <a:srgbClr val="E0E0E0"/>
                </a:solidFill>
              </a:rPr>
              <a:t>Quadrant I: (+, +)</a:t>
            </a:r>
          </a:p>
          <a:p>
            <a:r>
              <a:rPr>
                <a:solidFill>
                  <a:srgbClr val="E0E0E0"/>
                </a:solidFill>
              </a:rPr>
              <a:t>Quadrant II: (-, +)</a:t>
            </a:r>
          </a:p>
          <a:p>
            <a:r>
              <a:rPr>
                <a:solidFill>
                  <a:srgbClr val="E0E0E0"/>
                </a:solidFill>
              </a:rPr>
              <a:t>Quadrant III: (-, -)</a:t>
            </a:r>
          </a:p>
          <a:p>
            <a:r>
              <a:rPr>
                <a:solidFill>
                  <a:srgbClr val="E0E0E0"/>
                </a:solidFill>
              </a:rPr>
              <a:t>Quadrant IV: (+, -)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Example: Find Coordinates for 2π/3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1: 2π/3 is in Quadrant II (π/2 &lt; 2π/3 &lt; 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2: Reference angle = π - 2π/3 = π/3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3: Coordinates for π/3: (1/2, √3/2)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4: Quadrant II signs: (-, 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Answer: (-1/2, √3/2)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Example: Find Coordinates for 5π/4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1: 5π/4 is in Quadrant III (π &lt; 5π/4 &lt; 3π/2)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2: Reference angle = 5π/4 - π = π/4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3: Coordinates for π/4: (√2/2, √2/2)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4: Quadrant III signs: (-, -)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Answer: (-√2/2, -√2/2)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Guided Practice: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Find the coordinates for 5π/6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Hint: What quadrant? What's the reference angle?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Work with your partner - 3 minutes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0AD47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Solution: 5π/6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Quadrant II: (5π/6 is between π/2 and π)</a:t>
            </a:r>
          </a:p>
          <a:p>
            <a:r>
              <a:rPr>
                <a:solidFill>
                  <a:srgbClr val="E0E0E0"/>
                </a:solidFill>
              </a:rPr>
              <a:t>Reference angle: π - 5π/6 = π/6</a:t>
            </a:r>
          </a:p>
          <a:p>
            <a:r>
              <a:rPr>
                <a:solidFill>
                  <a:srgbClr val="E0E0E0"/>
                </a:solidFill>
              </a:rPr>
              <a:t>Coordinates for π/6: (√3/2, 1/2)</a:t>
            </a:r>
          </a:p>
          <a:p>
            <a:r>
              <a:rPr>
                <a:solidFill>
                  <a:srgbClr val="E0E0E0"/>
                </a:solidFill>
              </a:rPr>
              <a:t>Quadrant II signs: (-, +)</a:t>
            </a:r>
          </a:p>
          <a:p/>
          <a:p>
            <a:r>
              <a:rPr b="1">
                <a:solidFill>
                  <a:srgbClr val="00FF00"/>
                </a:solidFill>
              </a:rPr>
              <a:t>Answer: (-√3/2, 1/2)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00FFFF"/>
                </a:solidFill>
              </a:rPr>
              <a:t>All Six Trig Functions from (x, 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00FFFF"/>
                </a:solidFill>
              </a:rPr>
              <a:t>From coordinates (x, y) on the unit circle:</a:t>
            </a:r>
          </a:p>
          <a:p/>
          <a:p>
            <a:r>
              <a:rPr>
                <a:solidFill>
                  <a:srgbClr val="00FFFF"/>
                </a:solidFill>
              </a:rPr>
              <a:t>sin(θ) = y          csc(θ) = 1/y</a:t>
            </a:r>
          </a:p>
          <a:p>
            <a:r>
              <a:rPr>
                <a:solidFill>
                  <a:srgbClr val="00FFFF"/>
                </a:solidFill>
              </a:rPr>
              <a:t>cos(θ) = x          sec(θ) = 1/x</a:t>
            </a:r>
          </a:p>
          <a:p>
            <a:r>
              <a:rPr>
                <a:solidFill>
                  <a:srgbClr val="00FFFF"/>
                </a:solidFill>
              </a:rPr>
              <a:t>tan(θ) = y/x        cot(θ) = x/y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Example: All Six Functions for 3π/4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Coordinates for 3π/4: (-√2/2, √2/2)</a:t>
            </a:r>
          </a:p>
          <a:p/>
          <a:p>
            <a:r>
              <a:rPr>
                <a:solidFill>
                  <a:srgbClr val="E0E0E0"/>
                </a:solidFill>
              </a:rPr>
              <a:t>sin(3π/4) = √2/2</a:t>
            </a:r>
          </a:p>
          <a:p>
            <a:r>
              <a:rPr>
                <a:solidFill>
                  <a:srgbClr val="E0E0E0"/>
                </a:solidFill>
              </a:rPr>
              <a:t>cos(3π/4) = -√2/2</a:t>
            </a:r>
          </a:p>
          <a:p>
            <a:r>
              <a:rPr>
                <a:solidFill>
                  <a:srgbClr val="E0E0E0"/>
                </a:solidFill>
              </a:rPr>
              <a:t>tan(3π/4) = -1</a:t>
            </a:r>
          </a:p>
          <a:p>
            <a:r>
              <a:rPr>
                <a:solidFill>
                  <a:srgbClr val="E0E0E0"/>
                </a:solidFill>
              </a:rPr>
              <a:t>csc(3π/4) = √2</a:t>
            </a:r>
          </a:p>
          <a:p>
            <a:r>
              <a:rPr>
                <a:solidFill>
                  <a:srgbClr val="E0E0E0"/>
                </a:solidFill>
              </a:rPr>
              <a:t>sec(3π/4) = -√2</a:t>
            </a:r>
          </a:p>
          <a:p>
            <a:r>
              <a:rPr>
                <a:solidFill>
                  <a:srgbClr val="E0E0E0"/>
                </a:solidFill>
              </a:rPr>
              <a:t>cot(3π/4) = -1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Guided Practice: All Six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Find all six trig functions for the angle 7π/6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472C4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Step 1: Find coordinates</a:t>
            </a:r>
          </a:p>
          <a:p>
            <a:r>
              <a:rPr b="1">
                <a:solidFill>
                  <a:srgbClr val="FF8800"/>
                </a:solidFill>
              </a:rPr>
              <a:t>Step 2: Calculate all six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Time: 4 minutes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0AD47"/>
                </a:solidFill>
                <a:latin typeface="Arial"/>
              </a:defRPr>
            </a:pPr>
            <a:r>
              <a:rPr b="1">
                <a:solidFill>
                  <a:srgbClr val="00FF00"/>
                </a:solidFill>
              </a:rPr>
              <a:t>Solution: All Six for 7π/6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Coordinates: (-√3/2, -1/2)</a:t>
            </a:r>
          </a:p>
          <a:p/>
          <a:p>
            <a:r>
              <a:rPr>
                <a:solidFill>
                  <a:srgbClr val="E0E0E0"/>
                </a:solidFill>
              </a:rPr>
              <a:t>sin = -1/2          csc = -2</a:t>
            </a:r>
          </a:p>
          <a:p>
            <a:r>
              <a:rPr>
                <a:solidFill>
                  <a:srgbClr val="E0E0E0"/>
                </a:solidFill>
              </a:rPr>
              <a:t>cos = -√3/2         sec = -2√3/3</a:t>
            </a:r>
          </a:p>
          <a:p>
            <a:r>
              <a:rPr>
                <a:solidFill>
                  <a:srgbClr val="E0E0E0"/>
                </a:solidFill>
              </a:rPr>
              <a:t>tan = √3/3          cot = √3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Independent Practice (You 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57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Complete Daily Assignment (35 problems)</a:t>
            </a:r>
          </a:p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Part A: Find coordinates for Quadrant I angles</a:t>
            </a:r>
          </a:p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Part B: Find coordinates for all quadrants using reference angles</a:t>
            </a:r>
          </a:p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Part C: Find all six trig functions from given coordinates</a:t>
            </a:r>
          </a:p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Homework: 40 problems (comprehensive unit circle) - Due Monday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Practice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57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Draw the triangle every time!</a:t>
            </a:r>
          </a:p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Label quadrant and reference angle first</a:t>
            </a:r>
          </a:p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1493"/>
                </a:solidFill>
              </a:rPr>
              <a:t>Check your signs carefully</a:t>
            </a:r>
          </a:p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Show all your work</a:t>
            </a:r>
          </a:p>
          <a:p>
            <a:pPr>
              <a:spcAft>
                <a:spcPts val="1200"/>
              </a:spcAft>
              <a:defRPr sz="28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Raise your hand if you need help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Lesson Review: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Special triangles (30-60-90 and 45-45-90) give exact coordinates</a:t>
            </a:r>
          </a:p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Quadrant I special angles: π/6, π/4, π/3, π/2</a:t>
            </a:r>
          </a:p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Reference angles help us find coordinates in any quadrant</a:t>
            </a:r>
          </a:p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Sign patterns: QI (+,+), QII (-,+), QIII (-,-), QIV (+,-)</a:t>
            </a:r>
          </a:p>
          <a:p>
            <a:pPr>
              <a:spcAft>
                <a:spcPts val="1200"/>
              </a:spcAft>
              <a:defRPr sz="24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00FFFF"/>
                </a:solidFill>
              </a:rPr>
              <a:t>All six trig functions come from (x, y) coordinates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Quick Review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1. What are the side ratios for a 30-60-90 triangle?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2. What's the reference angle for 5π/6?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3. What are the signs in Quadrant III?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4. If the coordinates are (x, y), what is sin(θ)?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Coming Next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Session 3 (Monday, Jan 12):</a:t>
            </a:r>
          </a:p>
          <a:p>
            <a:r>
              <a:rPr>
                <a:solidFill>
                  <a:srgbClr val="E0E0E0"/>
                </a:solidFill>
              </a:rPr>
              <a:t>Complete Unit Circle - All Four Quadrants</a:t>
            </a:r>
          </a:p>
          <a:p>
            <a:r>
              <a:rPr>
                <a:solidFill>
                  <a:srgbClr val="E0E0E0"/>
                </a:solidFill>
              </a:rPr>
              <a:t>Practice with all special angles</a:t>
            </a:r>
          </a:p>
          <a:p>
            <a:r>
              <a:rPr>
                <a:solidFill>
                  <a:srgbClr val="E0E0E0"/>
                </a:solidFill>
              </a:rPr>
              <a:t>Deeper exploration of trig function values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Project 1: Artistic Unit 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57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Create an artistic unit circle master reference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Include all special angles with coordinates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Show derivations using special triangles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Make it visual, colorful, and memorable</a:t>
            </a:r>
          </a:p>
          <a:p>
            <a:pPr>
              <a:spcAft>
                <a:spcPts val="1200"/>
              </a:spcAft>
              <a:defRPr sz="260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Due: February 6 (with Unit 1 Test)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Exit Ticket - 5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Complete these problems individually before you leave.</a:t>
            </a:r>
          </a:p>
          <a:p/>
          <a:p>
            <a:r>
              <a:rPr>
                <a:solidFill>
                  <a:srgbClr val="E0E0E0"/>
                </a:solidFill>
              </a:rPr>
              <a:t>This checks your understanding of today's lesson.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Exit Ticket Problem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1. Find the coordinates for π/4 on the unit circle.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Exit Ticket Problem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2. Find the coordinates for 5π/6 using a reference angle.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Exit Ticket Problem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3. Calculate sin(2π/3).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Exit Ticket Problem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4. Find all six trig functions for 3π/4.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D7D31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Exit Ticket Problem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2C2C"/>
                </a:solidFill>
                <a:latin typeface="Arial"/>
              </a:defRPr>
            </a:pPr>
            <a:r>
              <a:rPr b="1">
                <a:solidFill>
                  <a:srgbClr val="FF8800"/>
                </a:solidFill>
              </a:rPr>
              <a:t>5. Explain the sign pattern in Quadrant III and why it makes sense.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Exit Ticket - Work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Work independently</a:t>
            </a:r>
          </a:p>
          <a:p>
            <a:r>
              <a:rPr>
                <a:solidFill>
                  <a:srgbClr val="E0E0E0"/>
                </a:solidFill>
              </a:rPr>
              <a:t>Show all your work</a:t>
            </a:r>
          </a:p>
          <a:p/>
          <a:p>
            <a:r>
              <a:rPr>
                <a:solidFill>
                  <a:srgbClr val="E0E0E0"/>
                </a:solidFill>
              </a:rPr>
              <a:t>You have 7 minutes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0AD47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Turn In Your 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Please submit your exit ticket before you leave.</a:t>
            </a:r>
          </a:p>
          <a:p/>
          <a:p>
            <a:r>
              <a:rPr>
                <a:solidFill>
                  <a:srgbClr val="E0E0E0"/>
                </a:solidFill>
              </a:rPr>
              <a:t>Have a great weekend!</a:t>
            </a:r>
          </a:p>
          <a:p/>
          <a:p>
            <a:r>
              <a:rPr>
                <a:solidFill>
                  <a:srgbClr val="E0E0E0"/>
                </a:solidFill>
              </a:rPr>
              <a:t>Remember: Homework due Monday!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472C4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Great Work Today!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C2C2C"/>
                </a:solidFill>
                <a:latin typeface="Arial"/>
              </a:defRPr>
            </a:pPr>
            <a:r>
              <a:rPr>
                <a:solidFill>
                  <a:srgbClr val="E0E0E0"/>
                </a:solidFill>
              </a:rPr>
              <a:t>See you Monday for Session 3!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