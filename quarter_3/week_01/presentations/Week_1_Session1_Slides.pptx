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1600" y="1301800"/>
            <a:ext cx="6140651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54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Triangle Trig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501600" y="2336750"/>
            <a:ext cx="614065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3200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Introduction to Radians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501600" y="3184475"/>
            <a:ext cx="614065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Precalculus | January 7, 2026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1014264"/>
            <a:ext cx="803168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988"/>
              </a:spcBef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Be Able To: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34901" y="1919139"/>
            <a:ext cx="7874198" cy="213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2851" y="1919139"/>
            <a:ext cx="751357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SOH-CAH-TOA to find trig ratios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2851" y="2522339"/>
            <a:ext cx="751357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radian as arc length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851" y="3125539"/>
            <a:ext cx="751357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degrees ↔ radians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851" y="3728740"/>
            <a:ext cx="751357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arc length (s = rθ)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1013817"/>
            <a:ext cx="829066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984"/>
              </a:spcBef>
              <a:spcAft>
                <a:spcPts val="4000"/>
              </a:spcAft>
              <a:buNone/>
            </a:pPr>
            <a:r>
              <a:rPr lang="en-US" sz="48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 - CAH - TOA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10034" y="2353568"/>
            <a:ext cx="2705100" cy="2117527"/>
          </a:xfrm>
          <a:prstGeom prst="roundRect">
            <a:avLst>
              <a:gd name="adj" fmla="val 7197"/>
            </a:avLst>
          </a:prstGeom>
          <a:solidFill>
            <a:srgbClr val="1A1A1A"/>
          </a:solidFill>
          <a:ln w="19050">
            <a:solidFill>
              <a:srgbClr val="00AA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91034" y="2753618"/>
            <a:ext cx="19431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32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91034" y="3410843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opposite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1034" y="3740944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hypotenuse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19301" y="2353568"/>
            <a:ext cx="2705100" cy="2117527"/>
          </a:xfrm>
          <a:prstGeom prst="roundRect">
            <a:avLst>
              <a:gd name="adj" fmla="val 7197"/>
            </a:avLst>
          </a:prstGeom>
          <a:solidFill>
            <a:srgbClr val="1A1A1A"/>
          </a:solidFill>
          <a:ln w="19050">
            <a:solidFill>
              <a:srgbClr val="00AA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00301" y="2753618"/>
            <a:ext cx="19431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32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 θ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00301" y="3410843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00301" y="3740944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hypotenuse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28568" y="2353568"/>
            <a:ext cx="2705100" cy="2117527"/>
          </a:xfrm>
          <a:prstGeom prst="roundRect">
            <a:avLst>
              <a:gd name="adj" fmla="val 7197"/>
            </a:avLst>
          </a:prstGeom>
          <a:solidFill>
            <a:srgbClr val="1A1A1A"/>
          </a:solidFill>
          <a:ln w="19050">
            <a:solidFill>
              <a:srgbClr val="00AA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09568" y="2753618"/>
            <a:ext cx="19431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32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θ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09568" y="3410843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opposite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9568" y="3740944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633710"/>
            <a:ext cx="803168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988"/>
              </a:spcBef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3-4-5 Triangle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34901" y="1538585"/>
            <a:ext cx="803168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2800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sin θ, cos θ, tan 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2329160"/>
            <a:ext cx="8031682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θ = 3/5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34901" y="3182541"/>
            <a:ext cx="8031682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 θ = 4/5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34901" y="4035921"/>
            <a:ext cx="8031682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θ = 3/4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64903"/>
            <a:ext cx="77724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984"/>
              </a:spcBef>
              <a:spcAft>
                <a:spcPts val="4000"/>
              </a:spcAft>
              <a:buNone/>
            </a:pPr>
            <a:r>
              <a:rPr lang="en-US" sz="48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Radian?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85800" y="2577703"/>
            <a:ext cx="7772400" cy="130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120"/>
              </a:lnSpc>
              <a:spcBef>
                <a:spcPts val="3200"/>
              </a:spcBef>
              <a:spcAft>
                <a:spcPts val="32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angle when the </a:t>
            </a:r>
            <a:pPr algn="ctr" indent="0" marL="0">
              <a:lnSpc>
                <a:spcPts val="5120"/>
              </a:lnSpc>
              <a:spcBef>
                <a:spcPts val="3200"/>
              </a:spcBef>
              <a:spcAft>
                <a:spcPts val="3200"/>
              </a:spcAft>
              <a:buNone/>
            </a:pPr>
            <a:r>
              <a:rPr lang="en-US" sz="3200" b="1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length</a:t>
            </a:r>
            <a:pPr algn="ctr" indent="0" marL="0">
              <a:lnSpc>
                <a:spcPts val="5120"/>
              </a:lnSpc>
              <a:spcBef>
                <a:spcPts val="3200"/>
              </a:spcBef>
              <a:spcAft>
                <a:spcPts val="32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equals the </a:t>
            </a:r>
            <a:pPr algn="ctr" indent="0" marL="0">
              <a:lnSpc>
                <a:spcPts val="5120"/>
              </a:lnSpc>
              <a:spcBef>
                <a:spcPts val="3200"/>
              </a:spcBef>
              <a:spcAft>
                <a:spcPts val="3200"/>
              </a:spcAft>
              <a:buNone/>
            </a:pPr>
            <a:r>
              <a:rPr lang="en-US" sz="3200" b="1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radius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83589" y="1639788"/>
            <a:ext cx="35768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arc = radius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83589" y="2430363"/>
            <a:ext cx="3576822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7200" b="1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radian</a:t>
            </a:r>
            <a:endParaRPr lang="en-US" sz="7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5220" y="2105025"/>
            <a:ext cx="6473559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6400" b="1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180° = π radians</a:t>
            </a:r>
            <a:endParaRPr lang="en-US" sz="6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57510"/>
            <a:ext cx="77724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154"/>
              </a:spcBef>
              <a:spcAft>
                <a:spcPts val="2500"/>
              </a:spcAft>
              <a:buNone/>
            </a:pPr>
            <a:r>
              <a:rPr lang="en-US" sz="38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Formulas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62000" y="1436936"/>
            <a:ext cx="7620000" cy="1647825"/>
          </a:xfrm>
          <a:prstGeom prst="roundRect">
            <a:avLst>
              <a:gd name="adj" fmla="val 924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809625" y="1436936"/>
            <a:ext cx="0" cy="1647825"/>
          </a:xfrm>
          <a:prstGeom prst="line">
            <a:avLst/>
          </a:prstGeom>
          <a:noFill/>
          <a:ln w="95250">
            <a:solidFill>
              <a:srgbClr val="00A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5850" y="2046536"/>
            <a:ext cx="720890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3000" b="1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radians = degrees × π/180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62000" y="3211711"/>
            <a:ext cx="7620000" cy="1647825"/>
          </a:xfrm>
          <a:prstGeom prst="roundRect">
            <a:avLst>
              <a:gd name="adj" fmla="val 924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09625" y="3211711"/>
            <a:ext cx="0" cy="1647825"/>
          </a:xfrm>
          <a:prstGeom prst="line">
            <a:avLst/>
          </a:prstGeom>
          <a:noFill/>
          <a:ln w="95250">
            <a:solidFill>
              <a:srgbClr val="00AA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5850" y="3821311"/>
            <a:ext cx="720890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3000" b="1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degrees = radians × 180/π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14945"/>
            <a:ext cx="803168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22"/>
              </a:spcBef>
              <a:spcAft>
                <a:spcPts val="25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Convert 60° to radians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34901" y="1340346"/>
            <a:ext cx="8031682" cy="59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60° × π/180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2264866"/>
            <a:ext cx="8031682" cy="59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60π/180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4901" y="3189387"/>
            <a:ext cx="8031682" cy="59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π/3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34901" y="4113907"/>
            <a:ext cx="80316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0"/>
              </a:spcBef>
              <a:spcAft>
                <a:spcPts val="3200"/>
              </a:spcAft>
              <a:buNone/>
            </a:pPr>
            <a:r>
              <a:rPr lang="en-US" sz="3200" b="1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π/3 radians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38988" y="1440507"/>
            <a:ext cx="5065874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984"/>
              </a:spcBef>
              <a:spcAft>
                <a:spcPts val="4000"/>
              </a:spcAft>
              <a:buNone/>
            </a:pPr>
            <a:r>
              <a:rPr lang="en-US" sz="48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038988" y="2653308"/>
            <a:ext cx="506587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3π/4 to degrees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38988" y="3431084"/>
            <a:ext cx="506587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 your partner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7525" y="1180207"/>
            <a:ext cx="51689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486"/>
              </a:spcBef>
              <a:spcAft>
                <a:spcPts val="5000"/>
              </a:spcAft>
              <a:buNone/>
            </a:pPr>
            <a:r>
              <a:rPr lang="en-US" sz="42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Length Formula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987525" y="2434233"/>
            <a:ext cx="51689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6400" b="1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rθ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987525" y="3748683"/>
            <a:ext cx="51689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(θ must be in radians!)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58403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90"/>
              </a:spcBef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Find arc length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34901" y="1279029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spcBef>
                <a:spcPts val="2300"/>
              </a:spcBef>
              <a:spcAft>
                <a:spcPts val="2300"/>
              </a:spcAft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Given: r = 6 cm, θ = π/4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34901" y="2009180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spcBef>
                <a:spcPts val="2300"/>
              </a:spcBef>
              <a:spcAft>
                <a:spcPts val="2300"/>
              </a:spcAft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rθ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34901" y="2739330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spcBef>
                <a:spcPts val="2300"/>
              </a:spcBef>
              <a:spcAft>
                <a:spcPts val="2300"/>
              </a:spcAft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6 × π/4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34901" y="3469481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spcBef>
                <a:spcPts val="2300"/>
              </a:spcBef>
              <a:spcAft>
                <a:spcPts val="2300"/>
              </a:spcAft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6π/4 = 3π/2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34901" y="4199632"/>
            <a:ext cx="80316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2600"/>
              </a:spcAft>
              <a:buNone/>
            </a:pPr>
            <a:r>
              <a:rPr lang="en-US" sz="2600" b="1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3π/2 cm ≈ 4.71 cm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163" y="1292275"/>
            <a:ext cx="7105674" cy="116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0"/>
              </a:spcBef>
              <a:spcAft>
                <a:spcPts val="1500"/>
              </a:spcAft>
              <a:buNone/>
            </a:pPr>
            <a:r>
              <a:rPr lang="en-US" sz="7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🎡</a:t>
            </a:r>
            <a:endParaRPr lang="en-US" sz="7000" dirty="0"/>
          </a:p>
        </p:txBody>
      </p:sp>
      <p:sp>
        <p:nvSpPr>
          <p:cNvPr id="3" name="Text 1"/>
          <p:cNvSpPr/>
          <p:nvPr/>
        </p:nvSpPr>
        <p:spPr>
          <a:xfrm>
            <a:off x="1019163" y="2835325"/>
            <a:ext cx="710567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Ferris wheels, clock hands, pizza slices...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9163" y="3787825"/>
            <a:ext cx="710567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Radians are everywhere!</a:t>
            </a: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1056531"/>
            <a:ext cx="8031682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320"/>
              </a:spcBef>
              <a:spcAft>
                <a:spcPts val="3500"/>
              </a:spcAft>
              <a:buNone/>
            </a:pPr>
            <a:r>
              <a:rPr lang="en-US" sz="40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34901" y="2081957"/>
            <a:ext cx="7874198" cy="232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06401" y="2081957"/>
            <a:ext cx="744875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Radian = arc equals radius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06401" y="2739182"/>
            <a:ext cx="744875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180° = π radians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06401" y="3396407"/>
            <a:ext cx="744875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formulas for conversion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06401" y="4053632"/>
            <a:ext cx="744875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rθ (θ in radians)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733127"/>
            <a:ext cx="8031682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320"/>
              </a:spcBef>
              <a:spcAft>
                <a:spcPts val="2500"/>
              </a:spcAft>
              <a:buNone/>
            </a:pPr>
            <a:r>
              <a:rPr lang="en-US" sz="40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34901" y="1631603"/>
            <a:ext cx="80316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b="1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lnSpc>
                <a:spcPts val="42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triangle 8-15-17, find sin(θ)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34901" y="2431703"/>
            <a:ext cx="80316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b="1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lnSpc>
                <a:spcPts val="42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Convert 120° to radians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34901" y="3231803"/>
            <a:ext cx="80316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b="1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lnSpc>
                <a:spcPts val="42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Convert 2π/3 to degrees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34901" y="4031903"/>
            <a:ext cx="80316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b="1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lnSpc>
                <a:spcPts val="42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 length: r=6, θ=π/4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 Precalculus - Session 1: Right Triangle Trig &amp; Radians</dc:title>
  <dc:subject>PptxGenJS Presentation</dc:subject>
  <dc:creator>Teacher Lyles</dc:creator>
  <cp:lastModifiedBy>Teacher Lyles</cp:lastModifiedBy>
  <cp:revision>1</cp:revision>
  <dcterms:created xsi:type="dcterms:W3CDTF">2026-01-02T17:50:29Z</dcterms:created>
  <dcterms:modified xsi:type="dcterms:W3CDTF">2026-01-02T17:50:29Z</dcterms:modified>
</cp:coreProperties>
</file>